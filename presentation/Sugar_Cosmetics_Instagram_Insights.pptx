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fa970b33-a8fa-a4e1-11e3-436e1fbc5985}">
          <p14:sldIdLst>
            <p14:sldId id="256"/>
            <p14:sldId id="257"/>
          </p14:sldIdLst>
        </p14:section>
        <p14:section name="Findings" id="{02ef7647-cc5c-0f77-a28c-1933ab9ff03a}">
          <p14:sldIdLst>
            <p14:sldId id="258"/>
            <p14:sldId id="259"/>
            <p14:sldId id="260"/>
            <p14:sldId id="261"/>
            <p14:sldId id="262"/>
          </p14:sldIdLst>
        </p14:section>
        <p14:section name="Strategy" id="{9c4186df-bc83-f3ea-5f3d-848f1b682cd6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0E2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0E22"/>
                </a:solidFill>
                <a:latin typeface="+mn-lt"/>
              </a:rPr>
              <a:t>Posts per month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Posts</c:v>
                </c:pt>
              </c:strCache>
            </c:strRef>
          </c:tx>
          <c:spPr>
            <a:solidFill>
              <a:srgbClr val="C2185B"/>
            </a:solidFill>
            <a:ln w="25400" cap="flat">
              <a:solidFill>
                <a:srgbClr val="C218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2185B"/>
              </a:solidFill>
              <a:ln w="9525" cap="flat">
                <a:solidFill>
                  <a:srgbClr val="C218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Apr 24</c:v>
                  </c:pt>
                  <c:pt idx="1">
                    <c:v>May 24</c:v>
                  </c:pt>
                  <c:pt idx="2">
                    <c:v>Jun 24</c:v>
                  </c:pt>
                  <c:pt idx="3">
                    <c:v>Jul 24</c:v>
                  </c:pt>
                  <c:pt idx="4">
                    <c:v>Aug 24</c:v>
                  </c:pt>
                  <c:pt idx="5">
                    <c:v>Sep 24</c:v>
                  </c:pt>
                  <c:pt idx="6">
                    <c:v>Oct 24</c:v>
                  </c:pt>
                  <c:pt idx="7">
                    <c:v>Nov 24</c:v>
                  </c:pt>
                  <c:pt idx="8">
                    <c:v>Dec 24</c:v>
                  </c:pt>
                  <c:pt idx="9">
                    <c:v>Jan 25</c:v>
                  </c:pt>
                  <c:pt idx="10">
                    <c:v>Feb 25</c:v>
                  </c:pt>
                  <c:pt idx="11">
                    <c:v>Mar 25</c:v>
                  </c:pt>
                  <c:pt idx="12">
                    <c:v>Apr 25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1626</c:v>
                </c:pt>
                <c:pt idx="1">
                  <c:v>4250</c:v>
                </c:pt>
                <c:pt idx="2">
                  <c:v>4232</c:v>
                </c:pt>
                <c:pt idx="3">
                  <c:v>4121</c:v>
                </c:pt>
                <c:pt idx="4">
                  <c:v>4242</c:v>
                </c:pt>
                <c:pt idx="5">
                  <c:v>4160</c:v>
                </c:pt>
                <c:pt idx="6">
                  <c:v>4225</c:v>
                </c:pt>
                <c:pt idx="7">
                  <c:v>4075</c:v>
                </c:pt>
                <c:pt idx="8">
                  <c:v>4296</c:v>
                </c:pt>
                <c:pt idx="9">
                  <c:v>4244</c:v>
                </c:pt>
                <c:pt idx="10">
                  <c:v>3930</c:v>
                </c:pt>
                <c:pt idx="11">
                  <c:v>4139</c:v>
                </c:pt>
                <c:pt idx="12">
                  <c:v>2460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6DC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0E2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0E22"/>
                </a:solidFill>
                <a:latin typeface="+mn-lt"/>
              </a:rPr>
              <a:t>Actions as % of reached users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reach</c:v>
                </c:pt>
              </c:strCache>
            </c:strRef>
          </c:tx>
          <c:spPr>
            <a:solidFill>
              <a:srgbClr val="C2185B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Likes</c:v>
                  </c:pt>
                  <c:pt idx="1">
                    <c:v>Profile visits</c:v>
                  </c:pt>
                  <c:pt idx="2">
                    <c:v>Comments</c:v>
                  </c:pt>
                  <c:pt idx="3">
                    <c:v>Follows</c:v>
                  </c:pt>
                  <c:pt idx="4">
                    <c:v>Saves</c:v>
                  </c:pt>
                  <c:pt idx="5">
                    <c:v>Shares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14.96</c:v>
                </c:pt>
                <c:pt idx="1">
                  <c:v>3</c:v>
                </c:pt>
                <c:pt idx="2">
                  <c:v>1.87</c:v>
                </c:pt>
                <c:pt idx="3">
                  <c:v>0.9</c:v>
                </c:pt>
                <c:pt idx="4">
                  <c:v>0.9</c:v>
                </c:pt>
                <c:pt idx="5">
                  <c:v>0.82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0E2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0E22"/>
                </a:solidFill>
                <a:latin typeface="+mn-lt"/>
              </a:rPr>
              <a:t>Avg engagement rate by post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ER</c:v>
                </c:pt>
              </c:strCache>
            </c:strRef>
          </c:tx>
          <c:spPr>
            <a:solidFill>
              <a:srgbClr val="C2185B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Image</c:v>
                  </c:pt>
                  <c:pt idx="1">
                    <c:v>Reel</c:v>
                  </c:pt>
                  <c:pt idx="2">
                    <c:v>Story</c:v>
                  </c:pt>
                  <c:pt idx="3">
                    <c:v>Video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18.43</c:v>
                </c:pt>
                <c:pt idx="1">
                  <c:v>18.61</c:v>
                </c:pt>
                <c:pt idx="2">
                  <c:v>18.6</c:v>
                </c:pt>
                <c:pt idx="3">
                  <c:v>18.51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l"/>
        <c:majorGridlines>
          <c:spPr>
            <a:ln w="9525" cap="flat">
              <a:solidFill>
                <a:srgbClr val="E6DCE1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0E2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0E22"/>
                </a:solidFill>
                <a:latin typeface="+mn-lt"/>
              </a:rPr>
              <a:t>Avg engagement rate by weekday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ER</c:v>
                </c:pt>
              </c:strCache>
            </c:strRef>
          </c:tx>
          <c:spPr>
            <a:solidFill>
              <a:srgbClr val="C2185B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18.48</c:v>
                </c:pt>
                <c:pt idx="1">
                  <c:v>18.57</c:v>
                </c:pt>
                <c:pt idx="2">
                  <c:v>18.63</c:v>
                </c:pt>
                <c:pt idx="3">
                  <c:v>18.48</c:v>
                </c:pt>
                <c:pt idx="4">
                  <c:v>18.57</c:v>
                </c:pt>
                <c:pt idx="5">
                  <c:v>18.6</c:v>
                </c:pt>
                <c:pt idx="6">
                  <c:v>18.42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l"/>
        <c:majorGridlines>
          <c:spPr>
            <a:ln w="9525" cap="flat">
              <a:solidFill>
                <a:srgbClr val="E6DCE1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0E2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0E22"/>
                </a:solidFill>
                <a:latin typeface="+mn-lt"/>
              </a:rPr>
              <a:t>Avg ER by hashtag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ER</c:v>
                </c:pt>
              </c:strCache>
            </c:strRef>
          </c:tx>
          <c:spPr>
            <a:solidFill>
              <a:srgbClr val="C2185B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#VeganBeauty</c:v>
                  </c:pt>
                  <c:pt idx="1">
                    <c:v>#BoldLooks</c:v>
                  </c:pt>
                  <c:pt idx="2">
                    <c:v>#CrueltyFree</c:v>
                  </c:pt>
                  <c:pt idx="3">
                    <c:v>#SugarCosmetics</c:v>
                  </c:pt>
                  <c:pt idx="4">
                    <c:v>#MakeupGoals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18.61</c:v>
                </c:pt>
                <c:pt idx="1">
                  <c:v>18.58</c:v>
                </c:pt>
                <c:pt idx="2">
                  <c:v>18.54</c:v>
                </c:pt>
                <c:pt idx="3">
                  <c:v>18.52</c:v>
                </c:pt>
                <c:pt idx="4">
                  <c:v>18.51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0E2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0E22"/>
                </a:solidFill>
                <a:latin typeface="+mn-lt"/>
              </a:rPr>
              <a:t>Avg ER by campaign type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ER</c:v>
                </c:pt>
              </c:strCache>
            </c:strRef>
          </c:tx>
          <c:spPr>
            <a:solidFill>
              <a:srgbClr val="C2185B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Influencer Collab</c:v>
                  </c:pt>
                  <c:pt idx="1">
                    <c:v>Tutorial</c:v>
                  </c:pt>
                  <c:pt idx="2">
                    <c:v>Giveaway</c:v>
                  </c:pt>
                  <c:pt idx="3">
                    <c:v>Product Launch</c:v>
                  </c:pt>
                  <c:pt idx="4">
                    <c:v>Festive Offer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18.6</c:v>
                </c:pt>
                <c:pt idx="1">
                  <c:v>18.58</c:v>
                </c:pt>
                <c:pt idx="2">
                  <c:v>18.57</c:v>
                </c:pt>
                <c:pt idx="3">
                  <c:v>18.49</c:v>
                </c:pt>
                <c:pt idx="4">
                  <c:v>18.44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0E2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0E22"/>
                </a:solidFill>
                <a:latin typeface="+mn-lt"/>
              </a:rPr>
              <a:t>Avg reach per post by source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reach</c:v>
                </c:pt>
              </c:strCache>
            </c:strRef>
          </c:tx>
          <c:spPr>
            <a:solidFill>
              <a:srgbClr val="7B1E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Collab</c:v>
                  </c:pt>
                  <c:pt idx="1">
                    <c:v>Influencer</c:v>
                  </c:pt>
                  <c:pt idx="2">
                    <c:v>Organic</c:v>
                  </c:pt>
                  <c:pt idx="3">
                    <c:v>Paid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19706.53</c:v>
                </c:pt>
                <c:pt idx="1">
                  <c:v>19699.27</c:v>
                </c:pt>
                <c:pt idx="2">
                  <c:v>19970.29</c:v>
                </c:pt>
                <c:pt idx="3">
                  <c:v>19616.58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00"/>
          <c:min val="0"/>
        </c:scaling>
        <c:delete val="0"/>
        <c:axPos val="l"/>
        <c:majorGridlines>
          <c:spPr>
            <a:ln w="9525" cap="flat">
              <a:solidFill>
                <a:srgbClr val="E6DC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0E2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0E22"/>
                </a:solidFill>
                <a:latin typeface="+mn-lt"/>
              </a:rPr>
              <a:t>Avg engagement rate by source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ER</c:v>
                </c:pt>
              </c:strCache>
            </c:strRef>
          </c:tx>
          <c:spPr>
            <a:solidFill>
              <a:srgbClr val="C2185B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Collab</c:v>
                  </c:pt>
                  <c:pt idx="1">
                    <c:v>Influencer</c:v>
                  </c:pt>
                  <c:pt idx="2">
                    <c:v>Organic</c:v>
                  </c:pt>
                  <c:pt idx="3">
                    <c:v>Paid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18.59</c:v>
                </c:pt>
                <c:pt idx="1">
                  <c:v>18.58</c:v>
                </c:pt>
                <c:pt idx="2">
                  <c:v>18.44</c:v>
                </c:pt>
                <c:pt idx="3">
                  <c:v>18.53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l"/>
        <c:majorGridlines>
          <c:spPr>
            <a:ln w="9525" cap="flat">
              <a:solidFill>
                <a:srgbClr val="E6DCE1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analysis of 50,000 Sugar Cosmetics Instagram posts and a Streamlit dashboard to guide social media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numbers, then the three takeaways that drive the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Volume is not a problem. The brand is already posting at very high and stable frequency.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Funnel: Impressions to Reach 77%, Likes 15% of reach, then comments 1.9%, saves 0.9%, shares 0.8%. The drop after liking is the biggest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ANOVA p-values: post type 0.15, weekday 0.57. The audience engages almost equally regardless of format or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2-3 focused hashtags. Influencer Collab and Tutorial campaigns lead; Festive Offer is weakest.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Paid spend should be reviewed for ROI. Redirect budget to boosting proven high-ER posts.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Timing, frequency, content types and hashtags, each grounded in the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Actions target the weakest funnel stages. Campaign ideas combine the best-performing formats, campaigns and hashtags.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gaps and how the dashboard supports ongoing tracking.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F48FB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Sugar Cosmetics · Instagram Performance Analytics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image" Target="../media/image-7-1.png"/><Relationship Id="rId4" Type="http://schemas.openxmlformats.org/officeDocument/2006/relationships/image" Target="../media/image-7-2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Instagram Performance Analytics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48FB1"/>
                </a:solidFill>
              </a:rPr>
              <a:t>Sugar Cosmetics · 50,000 posts · Apr 2024 – Apr 2025</a:t>
            </a:r>
            <a:endParaRPr lang="en-US" sz="20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Insights &amp; strategy for the marketing team  |  Prepared by Adarsh Shrikant Tiwari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Strong reach and steady output; deeper engagement is the gap</a:t>
            </a:r>
            <a:endParaRPr lang="en-US" sz="3000" dirty="0"/>
          </a:p>
        </p:txBody>
      </p:sp>
      <p:sp>
        <p:nvSpPr>
          <p:cNvPr id="3" name="Posts card"/>
          <p:cNvSpPr/>
          <p:nvPr/>
        </p:nvSpPr>
        <p:spPr>
          <a:xfrm>
            <a:off x="548640" y="137160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4" name="Posts value"/>
          <p:cNvSpPr txBox="1"/>
          <p:nvPr/>
        </p:nvSpPr>
        <p:spPr>
          <a:xfrm>
            <a:off x="777240" y="153619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3600" dirty="0"/>
          </a:p>
        </p:txBody>
      </p:sp>
      <p:sp>
        <p:nvSpPr>
          <p:cNvPr id="5" name="Posts label"/>
          <p:cNvSpPr txBox="1"/>
          <p:nvPr/>
        </p:nvSpPr>
        <p:spPr>
          <a:xfrm>
            <a:off x="777240" y="2240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posts published</a:t>
            </a:r>
            <a:endParaRPr lang="en-US" sz="1400" dirty="0"/>
          </a:p>
        </p:txBody>
      </p:sp>
      <p:sp>
        <p:nvSpPr>
          <p:cNvPr id="6" name="Reach card"/>
          <p:cNvSpPr/>
          <p:nvPr/>
        </p:nvSpPr>
        <p:spPr>
          <a:xfrm>
            <a:off x="3364992" y="137160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7" name="Reach value"/>
          <p:cNvSpPr txBox="1"/>
          <p:nvPr/>
        </p:nvSpPr>
        <p:spPr>
          <a:xfrm>
            <a:off x="3593592" y="153619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987.4M</a:t>
            </a:r>
            <a:endParaRPr lang="en-US" sz="3600" dirty="0"/>
          </a:p>
        </p:txBody>
      </p:sp>
      <p:sp>
        <p:nvSpPr>
          <p:cNvPr id="8" name="Reach label"/>
          <p:cNvSpPr txBox="1"/>
          <p:nvPr/>
        </p:nvSpPr>
        <p:spPr>
          <a:xfrm>
            <a:off x="3593592" y="2240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total reach</a:t>
            </a:r>
            <a:endParaRPr lang="en-US" sz="1400" dirty="0"/>
          </a:p>
        </p:txBody>
      </p:sp>
      <p:sp>
        <p:nvSpPr>
          <p:cNvPr id="9" name="Likes card"/>
          <p:cNvSpPr/>
          <p:nvPr/>
        </p:nvSpPr>
        <p:spPr>
          <a:xfrm>
            <a:off x="6181344" y="137160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0" name="Likes value"/>
          <p:cNvSpPr txBox="1"/>
          <p:nvPr/>
        </p:nvSpPr>
        <p:spPr>
          <a:xfrm>
            <a:off x="6409944" y="153619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147.7M</a:t>
            </a:r>
            <a:endParaRPr lang="en-US" sz="3600" dirty="0"/>
          </a:p>
        </p:txBody>
      </p:sp>
      <p:sp>
        <p:nvSpPr>
          <p:cNvPr id="11" name="Likes label"/>
          <p:cNvSpPr txBox="1"/>
          <p:nvPr/>
        </p:nvSpPr>
        <p:spPr>
          <a:xfrm>
            <a:off x="6409944" y="2240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likes received</a:t>
            </a:r>
            <a:endParaRPr lang="en-US" sz="1400" dirty="0"/>
          </a:p>
        </p:txBody>
      </p:sp>
      <p:sp>
        <p:nvSpPr>
          <p:cNvPr id="12" name="ER card"/>
          <p:cNvSpPr/>
          <p:nvPr/>
        </p:nvSpPr>
        <p:spPr>
          <a:xfrm>
            <a:off x="8997696" y="137160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3" name="ER value"/>
          <p:cNvSpPr txBox="1"/>
          <p:nvPr/>
        </p:nvSpPr>
        <p:spPr>
          <a:xfrm>
            <a:off x="9226296" y="153619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18.54%</a:t>
            </a:r>
            <a:endParaRPr lang="en-US" sz="3600" dirty="0"/>
          </a:p>
        </p:txBody>
      </p:sp>
      <p:sp>
        <p:nvSpPr>
          <p:cNvPr id="14" name="ER label"/>
          <p:cNvSpPr txBox="1"/>
          <p:nvPr/>
        </p:nvSpPr>
        <p:spPr>
          <a:xfrm>
            <a:off x="9226296" y="2240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avg engagement rate</a:t>
            </a:r>
            <a:endParaRPr lang="en-US" sz="1400" dirty="0"/>
          </a:p>
        </p:txBody>
      </p:sp>
      <p:sp>
        <p:nvSpPr>
          <p:cNvPr id="15" name="Takeaway 1"/>
          <p:cNvSpPr/>
          <p:nvPr/>
        </p:nvSpPr>
        <p:spPr>
          <a:xfrm>
            <a:off x="548640" y="3108960"/>
            <a:ext cx="361188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977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Engagement is shallow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7091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Likes are 81% of all engagement; saves and shares, the signals the algorithm rewards, are under 10%.</a:t>
            </a:r>
            <a:endParaRPr lang="en-US" sz="1400" dirty="0"/>
          </a:p>
        </p:txBody>
      </p:sp>
      <p:sp>
        <p:nvSpPr>
          <p:cNvPr id="19" name="Takeaway 2"/>
          <p:cNvSpPr/>
          <p:nvPr/>
        </p:nvSpPr>
        <p:spPr>
          <a:xfrm>
            <a:off x="4274820" y="3108960"/>
            <a:ext cx="361188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491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4549140" y="3977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Format &amp; timing aren't the levers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49140" y="47091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post type, weekday and month lands within 0.2 pp of the 18.5% average.</a:t>
            </a:r>
            <a:endParaRPr lang="en-US" sz="1400" dirty="0"/>
          </a:p>
        </p:txBody>
      </p:sp>
      <p:sp>
        <p:nvSpPr>
          <p:cNvPr id="23" name="Takeaway 3"/>
          <p:cNvSpPr/>
          <p:nvPr/>
        </p:nvSpPr>
        <p:spPr>
          <a:xfrm>
            <a:off x="8001000" y="3108960"/>
            <a:ext cx="361188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7532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3977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The profile converts well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47091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30% of profile visitors follow — but only 3% of reached users visit the profile.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Posting is rock-steady at ~4,200 posts a month</a:t>
            </a:r>
            <a:endParaRPr lang="en-US" sz="3000" dirty="0"/>
          </a:p>
        </p:txBody>
      </p:sp>
      <p:graphicFrame>
        <p:nvGraphicFramePr>
          <p:cNvPr id="3" name="Posts per month chart" descr=""/>
          <p:cNvGraphicFramePr/>
          <p:nvPr/>
        </p:nvGraphicFramePr>
        <p:xfrm>
          <a:off x="548640" y="1325880"/>
          <a:ext cx="73152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nsistency notes"/>
          <p:cNvSpPr/>
          <p:nvPr/>
        </p:nvSpPr>
        <p:spPr>
          <a:xfrm>
            <a:off x="8183880" y="1325880"/>
            <a:ext cx="3429000" cy="484632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5" name="Daily posts card"/>
          <p:cNvSpPr/>
          <p:nvPr/>
        </p:nvSpPr>
        <p:spPr>
          <a:xfrm>
            <a:off x="8366760" y="1508760"/>
            <a:ext cx="30632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6" name="Daily posts value"/>
          <p:cNvSpPr txBox="1"/>
          <p:nvPr/>
        </p:nvSpPr>
        <p:spPr>
          <a:xfrm>
            <a:off x="8595360" y="167335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~137</a:t>
            </a:r>
            <a:endParaRPr lang="en-US" sz="3600" dirty="0"/>
          </a:p>
        </p:txBody>
      </p:sp>
      <p:sp>
        <p:nvSpPr>
          <p:cNvPr id="7" name="Daily posts label"/>
          <p:cNvSpPr txBox="1"/>
          <p:nvPr/>
        </p:nvSpPr>
        <p:spPr>
          <a:xfrm>
            <a:off x="8595360" y="2377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posts per day on average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315468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Full months range 3,930 – 4,296 posts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Apr 2024 and Apr 2025 are partial months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Monthly ER stays between 18.3% and 18.7% — no seasonal spike or slump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8.9M new follows gained, growing evenly every month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Likes come easily — saves, shares and profile visits are the gap</a:t>
            </a:r>
            <a:endParaRPr lang="en-US" sz="3000" dirty="0"/>
          </a:p>
        </p:txBody>
      </p:sp>
      <p:graphicFrame>
        <p:nvGraphicFramePr>
          <p:cNvPr id="3" name="Funnel chart" descr=""/>
          <p:cNvGraphicFramePr/>
          <p:nvPr/>
        </p:nvGraphicFramePr>
        <p:xfrm>
          <a:off x="548640" y="132588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ikes share card"/>
          <p:cNvSpPr/>
          <p:nvPr/>
        </p:nvSpPr>
        <p:spPr>
          <a:xfrm>
            <a:off x="7818120" y="1325880"/>
            <a:ext cx="3794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5" name="Likes share value"/>
          <p:cNvSpPr txBox="1"/>
          <p:nvPr/>
        </p:nvSpPr>
        <p:spPr>
          <a:xfrm>
            <a:off x="8046720" y="149047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3600" dirty="0"/>
          </a:p>
        </p:txBody>
      </p:sp>
      <p:sp>
        <p:nvSpPr>
          <p:cNvPr id="6" name="Likes share label"/>
          <p:cNvSpPr txBox="1"/>
          <p:nvPr/>
        </p:nvSpPr>
        <p:spPr>
          <a:xfrm>
            <a:off x="8046720" y="21945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all engagement is likes</a:t>
            </a:r>
            <a:endParaRPr lang="en-US" sz="1400" dirty="0"/>
          </a:p>
        </p:txBody>
      </p:sp>
      <p:sp>
        <p:nvSpPr>
          <p:cNvPr id="7" name="Reach rate card"/>
          <p:cNvSpPr/>
          <p:nvPr/>
        </p:nvSpPr>
        <p:spPr>
          <a:xfrm>
            <a:off x="7818120" y="2926080"/>
            <a:ext cx="3794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8" name="Reach rate value"/>
          <p:cNvSpPr txBox="1"/>
          <p:nvPr/>
        </p:nvSpPr>
        <p:spPr>
          <a:xfrm>
            <a:off x="8046720" y="309067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3600" dirty="0"/>
          </a:p>
        </p:txBody>
      </p:sp>
      <p:sp>
        <p:nvSpPr>
          <p:cNvPr id="9" name="Reach rate label"/>
          <p:cNvSpPr txBox="1"/>
          <p:nvPr/>
        </p:nvSpPr>
        <p:spPr>
          <a:xfrm>
            <a:off x="8046720" y="37947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impressions reach unique users</a:t>
            </a:r>
            <a:endParaRPr lang="en-US" sz="1400" dirty="0"/>
          </a:p>
        </p:txBody>
      </p:sp>
      <p:sp>
        <p:nvSpPr>
          <p:cNvPr id="10" name="Profile conversion card"/>
          <p:cNvSpPr/>
          <p:nvPr/>
        </p:nvSpPr>
        <p:spPr>
          <a:xfrm>
            <a:off x="7818120" y="4526280"/>
            <a:ext cx="3794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1" name="Profile conversion value"/>
          <p:cNvSpPr txBox="1"/>
          <p:nvPr/>
        </p:nvSpPr>
        <p:spPr>
          <a:xfrm>
            <a:off x="8046720" y="469087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3600" dirty="0"/>
          </a:p>
        </p:txBody>
      </p:sp>
      <p:sp>
        <p:nvSpPr>
          <p:cNvPr id="12" name="Profile conversion label"/>
          <p:cNvSpPr txBox="1"/>
          <p:nvPr/>
        </p:nvSpPr>
        <p:spPr>
          <a:xfrm>
            <a:off x="8046720" y="53949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profile visitors become followers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Format and weekday barely move engagement rate</a:t>
            </a:r>
            <a:endParaRPr lang="en-US" sz="3000" dirty="0"/>
          </a:p>
        </p:txBody>
      </p:sp>
      <p:graphicFrame>
        <p:nvGraphicFramePr>
          <p:cNvPr id="3" name="Post type chart" descr=""/>
          <p:cNvGraphicFramePr/>
          <p:nvPr/>
        </p:nvGraphicFramePr>
        <p:xfrm>
          <a:off x="548640" y="1325880"/>
          <a:ext cx="49377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Weekday chart" descr=""/>
          <p:cNvGraphicFramePr/>
          <p:nvPr/>
        </p:nvGraphicFramePr>
        <p:xfrm>
          <a:off x="5760720" y="1325880"/>
          <a:ext cx="5852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Format note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777240" y="553212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Best: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Reel 18.61%, Story 18.60% · Wednesday 18.63%, Saturday 18.60%. 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Weakest: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Image 18.43% · Sunday 18.42%.   Gaps &lt; 0.25 pp, not statistically significant.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Hashtags and campaigns give small but consistent edges</a:t>
            </a:r>
            <a:endParaRPr lang="en-US" sz="3000" dirty="0"/>
          </a:p>
        </p:txBody>
      </p:sp>
      <p:graphicFrame>
        <p:nvGraphicFramePr>
          <p:cNvPr id="3" name="Hashtag chart" descr=""/>
          <p:cNvGraphicFramePr/>
          <p:nvPr/>
        </p:nvGraphicFramePr>
        <p:xfrm>
          <a:off x="548640" y="1325880"/>
          <a:ext cx="4206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ampaign chart" descr=""/>
          <p:cNvGraphicFramePr/>
          <p:nvPr/>
        </p:nvGraphicFramePr>
        <p:xfrm>
          <a:off x="4937760" y="1325880"/>
          <a:ext cx="4206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ombo card"/>
          <p:cNvSpPr/>
          <p:nvPr/>
        </p:nvSpPr>
        <p:spPr>
          <a:xfrm>
            <a:off x="9372600" y="1325880"/>
            <a:ext cx="2240280" cy="356616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9555480" y="1508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Best combo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9555480" y="1874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18.80%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955548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Story + Tutorial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9555480" y="301752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Tutorials are the most common campaign among top-quartile posts (21%).</a:t>
            </a:r>
            <a:endParaRPr lang="en-US" sz="1300" dirty="0"/>
          </a:p>
        </p:txBody>
      </p:sp>
      <p:sp>
        <p:nvSpPr>
          <p:cNvPr id="10" name="Hashtag count note"/>
          <p:cNvSpPr/>
          <p:nvPr/>
        </p:nvSpPr>
        <p:spPr>
          <a:xfrm>
            <a:off x="548640" y="5120640"/>
            <a:ext cx="110642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pic>
        <p:nvPicPr>
          <p:cNvPr id="11" name="Image 0" descr="Hashtag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49240"/>
            <a:ext cx="548640" cy="5486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554480" y="52578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 hashtags per post perform best (18.63%)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vs 18.44% for a single tag — the closest result to significance (p = 0.054). #VeganBeauty and #BoldLooks lead; #MakeupGoals trails.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Paid promotion isn't buying extra reach or engagement</a:t>
            </a:r>
            <a:endParaRPr lang="en-US" sz="3000" dirty="0"/>
          </a:p>
        </p:txBody>
      </p:sp>
      <p:graphicFrame>
        <p:nvGraphicFramePr>
          <p:cNvPr id="3" name="Reach by source chart" descr=""/>
          <p:cNvGraphicFramePr/>
          <p:nvPr/>
        </p:nvGraphicFramePr>
        <p:xfrm>
          <a:off x="548640" y="1325880"/>
          <a:ext cx="53949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ER by source chart" descr=""/>
          <p:cNvGraphicFramePr/>
          <p:nvPr/>
        </p:nvGraphicFramePr>
        <p:xfrm>
          <a:off x="6217920" y="1325880"/>
          <a:ext cx="53949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Paid note"/>
          <p:cNvSpPr/>
          <p:nvPr/>
        </p:nvSpPr>
        <p:spPr>
          <a:xfrm>
            <a:off x="548640" y="5349240"/>
            <a:ext cx="5394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pic>
        <p:nvPicPr>
          <p:cNvPr id="6" name="Image 0" descr="Money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504688"/>
            <a:ext cx="548640" cy="5486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463040" y="544068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Organic posts reach the most people (20.0K avg); Paid reaches 19.6K.</a:t>
            </a:r>
            <a:endParaRPr lang="en-US" sz="1400" dirty="0"/>
          </a:p>
        </p:txBody>
      </p:sp>
      <p:sp>
        <p:nvSpPr>
          <p:cNvPr id="8" name="Gems note"/>
          <p:cNvSpPr/>
          <p:nvPr/>
        </p:nvSpPr>
        <p:spPr>
          <a:xfrm>
            <a:off x="6217920" y="5349240"/>
            <a:ext cx="5394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pic>
        <p:nvPicPr>
          <p:cNvPr id="9" name="Image 1" descr="Gem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5504688"/>
            <a:ext cx="548640" cy="54864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132320" y="544068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Hidden gems: e.g. post P48036 reached only 7.2K people yet hit 34% ER — boost posts like these.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Recommended posting strategy</a:t>
            </a:r>
            <a:endParaRPr lang="en-US" sz="3000" dirty="0"/>
          </a:p>
        </p:txBody>
      </p:sp>
      <p:sp>
        <p:nvSpPr>
          <p:cNvPr id="3" name="Timing card"/>
          <p:cNvSpPr/>
          <p:nvPr/>
        </p:nvSpPr>
        <p:spPr>
          <a:xfrm>
            <a:off x="548640" y="137160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4" name="Timing icon circle"/>
          <p:cNvSpPr/>
          <p:nvPr/>
        </p:nvSpPr>
        <p:spPr>
          <a:xfrm>
            <a:off x="822960" y="1691640"/>
            <a:ext cx="822960" cy="82296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5" name="Image 0" descr="Timin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Timing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874520" y="219456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Keep the steady 7-day schedule. Put launches and key campaigns on Wednesday, Friday or Saturday; keep Sunday light.</a:t>
            </a:r>
            <a:endParaRPr lang="en-US" sz="1500" dirty="0"/>
          </a:p>
        </p:txBody>
      </p:sp>
      <p:sp>
        <p:nvSpPr>
          <p:cNvPr id="8" name="Frequency card"/>
          <p:cNvSpPr/>
          <p:nvPr/>
        </p:nvSpPr>
        <p:spPr>
          <a:xfrm>
            <a:off x="6172200" y="137160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9" name="Frequency icon circle"/>
          <p:cNvSpPr/>
          <p:nvPr/>
        </p:nvSpPr>
        <p:spPr>
          <a:xfrm>
            <a:off x="6446520" y="1691640"/>
            <a:ext cx="822960" cy="82296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0" name="Image 1" descr="Frequency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9808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Frequency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498080" y="219456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Hold volume flat (~137/day). More posts aren't lifting ER — move effort from quantity to creative quality.</a:t>
            </a:r>
            <a:endParaRPr lang="en-US" sz="1500" dirty="0"/>
          </a:p>
        </p:txBody>
      </p:sp>
      <p:sp>
        <p:nvSpPr>
          <p:cNvPr id="13" name="Content types card"/>
          <p:cNvSpPr/>
          <p:nvPr/>
        </p:nvSpPr>
        <p:spPr>
          <a:xfrm>
            <a:off x="548640" y="384048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4" name="Content types icon circle"/>
          <p:cNvSpPr/>
          <p:nvPr/>
        </p:nvSpPr>
        <p:spPr>
          <a:xfrm>
            <a:off x="822960" y="4160520"/>
            <a:ext cx="822960" cy="82296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5" name="Image 2" descr="Content type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3434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87452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Content types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874520" y="466344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Lead with Reels and Stories. Prioritise Story + Tutorial and Reel + Influencer Collab; cut static-image offers.</a:t>
            </a:r>
            <a:endParaRPr lang="en-US" sz="1500" dirty="0"/>
          </a:p>
        </p:txBody>
      </p:sp>
      <p:sp>
        <p:nvSpPr>
          <p:cNvPr id="18" name="Hashtags card"/>
          <p:cNvSpPr/>
          <p:nvPr/>
        </p:nvSpPr>
        <p:spPr>
          <a:xfrm>
            <a:off x="6172200" y="384048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9" name="Hashtags icon circle"/>
          <p:cNvSpPr/>
          <p:nvPr/>
        </p:nvSpPr>
        <p:spPr>
          <a:xfrm>
            <a:off x="6446520" y="4160520"/>
            <a:ext cx="822960" cy="82296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0" name="Image 3" descr="Hashtag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34340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9808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Hashtags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7498080" y="466344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 2–3 focused tags, never one. Prioritise #VeganBeauty and #BoldLooks; keep #SugarCosmetics as the brand tag.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Lift saves, shares and follows with value-first content</a:t>
            </a:r>
            <a:endParaRPr lang="en-US" sz="3000" dirty="0"/>
          </a:p>
        </p:txBody>
      </p:sp>
      <p:sp>
        <p:nvSpPr>
          <p:cNvPr id="3" name="Action icon circle 1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4" name="Image 0" descr="Design for saves &amp; share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3716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Design for saves &amp; shares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75564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Shade-finder carousels, swatch charts, step-by-step tutorials, "save this look" prompts.</a:t>
            </a:r>
            <a:endParaRPr lang="en-US" sz="1400" dirty="0"/>
          </a:p>
        </p:txBody>
      </p:sp>
      <p:sp>
        <p:nvSpPr>
          <p:cNvPr id="7" name="Action icon circle 2"/>
          <p:cNvSpPr/>
          <p:nvPr/>
        </p:nvSpPr>
        <p:spPr>
          <a:xfrm>
            <a:off x="548640" y="2679192"/>
            <a:ext cx="731520" cy="73152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8" name="Image 1" descr="Send people to the profi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62072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5877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Send people to the profile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29718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Clear CTAs, pinned highlights and collab tags — 30% of visitors already follow.</a:t>
            </a:r>
            <a:endParaRPr lang="en-US" sz="1400" dirty="0"/>
          </a:p>
        </p:txBody>
      </p:sp>
      <p:sp>
        <p:nvSpPr>
          <p:cNvPr id="11" name="Action icon circle 3"/>
          <p:cNvSpPr/>
          <p:nvPr/>
        </p:nvSpPr>
        <p:spPr>
          <a:xfrm>
            <a:off x="548640" y="3895344"/>
            <a:ext cx="731520" cy="73152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2" name="Image 2" descr="Spark conversatio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78224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380390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Spark conversation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418795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Questions, this-or-that polls in Stories, replies in the first hour.</a:t>
            </a:r>
            <a:endParaRPr lang="en-US" sz="1400" dirty="0"/>
          </a:p>
        </p:txBody>
      </p:sp>
      <p:sp>
        <p:nvSpPr>
          <p:cNvPr id="15" name="Action icon circle 4"/>
          <p:cNvSpPr/>
          <p:nvPr/>
        </p:nvSpPr>
        <p:spPr>
          <a:xfrm>
            <a:off x="548640" y="5111496"/>
            <a:ext cx="731520" cy="73152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6" name="Image 3" descr="Boost hidden gem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294376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50200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Boost hidden gems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1508760" y="540410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Shift paid budget from new posts to proven high-ER, low-reach posts.</a:t>
            </a:r>
            <a:endParaRPr lang="en-US" sz="1400" dirty="0"/>
          </a:p>
        </p:txBody>
      </p:sp>
      <p:sp>
        <p:nvSpPr>
          <p:cNvPr id="19" name="Campaign ideas card"/>
          <p:cNvSpPr/>
          <p:nvPr/>
        </p:nvSpPr>
        <p:spPr>
          <a:xfrm>
            <a:off x="6400800" y="1371600"/>
            <a:ext cx="5212080" cy="48006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6675120" y="1554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Campaign ideas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6675120" y="2240280"/>
            <a:ext cx="4663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Tutorial Wednesdays: </a:t>
            </a:r>
            <a:pPr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60-second Story looks with one hero product</a:t>
            </a:r>
            <a:endParaRPr lang="en-US" sz="1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#BoldLooks creator challenge: </a:t>
            </a:r>
            <a:pPr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monthly collab Reels + reposted UGC</a:t>
            </a:r>
            <a:endParaRPr lang="en-US" sz="1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#VeganBeauty explainers: </a:t>
            </a:r>
            <a:pPr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save-worthy ingredient carousels</a:t>
            </a:r>
            <a:endParaRPr lang="en-US" sz="1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Shade-match giveaway: </a:t>
            </a:r>
            <a:pPr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comment your tone, follow + share to enter</a:t>
            </a:r>
            <a:endParaRPr lang="en-US" sz="1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Festive offers as Reels: </a:t>
            </a:r>
            <a:pPr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"3 party looks under ₹999" instead of static images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Data gaps to close before the next review</a:t>
            </a:r>
            <a:endParaRPr lang="en-US" sz="3000" dirty="0"/>
          </a:p>
        </p:txBody>
      </p:sp>
      <p:graphicFrame>
        <p:nvGraphicFramePr>
          <p:cNvPr id="11" name="Data gap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931920"/>
                <a:gridCol w="438912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E2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caption text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Can't test keywords, tone or CTAs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captions from Meta Business Suite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posting hour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Can't recommend best time of 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full timestamps; analyse hour × weekday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follower count over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seen only via follows from posts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daily followers and unfollows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ad spend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Can't compute paid ROI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spend per boosted post → cost per follow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uniform results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effects are tiny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A/B tests on format and timing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Carousel not tagged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Can't compare carousel vs image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 carousel posts as their own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Next step: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 the Streamlit dashboard monthly to track saves, shares and profile visits against these targets.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gar Insights">
  <a:themeElements>
    <a:clrScheme name="Sugar Insights">
      <a:dk1>
        <a:srgbClr val="1A1A1A"/>
      </a:dk1>
      <a:lt1>
        <a:srgbClr val="FFFFFF"/>
      </a:lt1>
      <a:dk2>
        <a:srgbClr val="2A0E22"/>
      </a:dk2>
      <a:lt2>
        <a:srgbClr val="FBF1F5"/>
      </a:lt2>
      <a:accent1>
        <a:srgbClr val="C2185B"/>
      </a:accent1>
      <a:accent2>
        <a:srgbClr val="7B1E4E"/>
      </a:accent2>
      <a:accent3>
        <a:srgbClr val="F48FB1"/>
      </a:accent3>
      <a:accent4>
        <a:srgbClr val="6B6B6B"/>
      </a:accent4>
      <a:accent5>
        <a:srgbClr val="2A78D6"/>
      </a:accent5>
      <a:accent6>
        <a:srgbClr val="1BAF7A"/>
      </a:accent6>
      <a:hlink>
        <a:srgbClr val="C2185B"/>
      </a:hlink>
      <a:folHlink>
        <a:srgbClr val="7B1E4E"/>
      </a:folHlink>
    </a:clrScheme>
    <a:fontScheme name="Sugar Insight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Sugar Cosmetics Instagram Performance Analytics</dc:title>
  <dc:subject>PptxGenJS Presentation</dc:subject>
  <dc:creator>Adarsh Shrikant Tiwari</dc:creator>
  <cp:lastModifiedBy>Adarsh Shrikant Tiwari</cp:lastModifiedBy>
  <cp:revision>1</cp:revision>
  <dcterms:created xsi:type="dcterms:W3CDTF">2026-10-17T11:18:49Z</dcterms:created>
  <dcterms:modified xsi:type="dcterms:W3CDTF">2026-10-17T11:18:49Z</dcterms:modified>
</cp:coreProperties>
</file>